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D1B198-CDAD-4D6C-BED2-5FCAB86E9E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60DC3D-55E7-4AD4-A6D6-4473873C7D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214AF3-5322-4E21-AA29-5BA2E8A903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3787A5-340B-4E7E-BC9A-B3574682EC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935E07-62ED-487D-BAB8-6286A940EE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520205-7B50-4909-9DEF-5617EA0FCF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B18396-E0B7-4F72-A6B8-515F45E894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5C9C40-4626-4A5F-B9C0-A0DA412C52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611A5-B8E8-4CA7-ABB4-5ED1786E1C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AD2649-D57C-411F-8E95-F49C8210C9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087233-3530-4C8A-B3A2-BCF37AAF2A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1E61BB-A693-41D5-9563-6AB0F41EA4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D818A1-890C-4B16-A9AB-9F441F7A3DE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164520" y="0"/>
            <a:ext cx="54360" cy="685764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TextBox 3"/>
          <p:cNvSpPr/>
          <p:nvPr/>
        </p:nvSpPr>
        <p:spPr>
          <a:xfrm>
            <a:off x="777240" y="640080"/>
            <a:ext cx="36572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8aa9c2"/>
                </a:solidFill>
                <a:latin typeface="Calibri"/>
              </a:rPr>
              <a:t>OKUBE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777240" y="2148840"/>
            <a:ext cx="10332360" cy="13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Network + Energy Aware</a:t>
            </a:r>
            <a:endParaRPr b="0" lang="en-IN" sz="4200" spc="-1" strike="noStrike">
              <a:latin typeface="Arial"/>
            </a:endParaRPr>
          </a:p>
          <a:p>
            <a:pPr>
              <a:lnSpc>
                <a:spcPct val="102000"/>
              </a:lnSpc>
              <a:buNone/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Scheduler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777240" y="3703320"/>
            <a:ext cx="960084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700" spc="-1" strike="noStrike">
                <a:solidFill>
                  <a:srgbClr val="c7d6e2"/>
                </a:solidFill>
                <a:latin typeface="Calibri"/>
              </a:rPr>
              <a:t>Okube: extending a custom network-aware orchestrator with carbon-aware placement logic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777240" y="4617720"/>
            <a:ext cx="2514240" cy="383760"/>
          </a:xfrm>
          <a:prstGeom prst="roundRect">
            <a:avLst>
              <a:gd name="adj" fmla="val 50000"/>
            </a:avLst>
          </a:prstGeom>
          <a:solidFill>
            <a:srgbClr val="1f4a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CUSTOM GO ORCHESTRATOR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" name="Rounded Rectangle 7"/>
          <p:cNvSpPr/>
          <p:nvPr/>
        </p:nvSpPr>
        <p:spPr>
          <a:xfrm>
            <a:off x="3429000" y="4617720"/>
            <a:ext cx="2285640" cy="383760"/>
          </a:xfrm>
          <a:prstGeom prst="roundRect">
            <a:avLst>
              <a:gd name="adj" fmla="val 50000"/>
            </a:avLst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f2a3d"/>
                </a:solidFill>
                <a:latin typeface="Calibri"/>
              </a:rPr>
              <a:t>MIDSEM EVALUATION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" name="Rounded Rectangle 8"/>
          <p:cNvSpPr/>
          <p:nvPr/>
        </p:nvSpPr>
        <p:spPr>
          <a:xfrm>
            <a:off x="5852160" y="4617720"/>
            <a:ext cx="2880000" cy="383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PATH TO FUSED SCHEDULER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777240" y="5349240"/>
            <a:ext cx="91436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150" spc="-1" strike="noStrike">
                <a:solidFill>
                  <a:srgbClr val="9aa5b1"/>
                </a:solidFill>
                <a:latin typeface="Calibri"/>
              </a:rPr>
              <a:t>Built as a custom scheduler, by design — not a Kubernetes plugin — to keep full control over placement logic.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0" name="TextBox 10"/>
          <p:cNvSpPr/>
          <p:nvPr/>
        </p:nvSpPr>
        <p:spPr>
          <a:xfrm>
            <a:off x="777240" y="6172200"/>
            <a:ext cx="45716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aa9c2"/>
                </a:solidFill>
                <a:latin typeface="Calibri"/>
              </a:rPr>
              <a:t>Aditi Pandey, Sanchit S U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1" name="TextBox 11"/>
          <p:cNvSpPr/>
          <p:nvPr/>
        </p:nvSpPr>
        <p:spPr>
          <a:xfrm>
            <a:off x="777240" y="6419160"/>
            <a:ext cx="45716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c879c"/>
                </a:solidFill>
                <a:latin typeface="Calibri"/>
              </a:rPr>
              <a:t>August 2026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"/>
          <p:cNvSpPr/>
          <p:nvPr/>
        </p:nvSpPr>
        <p:spPr>
          <a:xfrm>
            <a:off x="0" y="0"/>
            <a:ext cx="12191400" cy="1234080"/>
          </a:xfrm>
          <a:prstGeom prst="rect">
            <a:avLst/>
          </a:prstGeom>
          <a:solidFill>
            <a:srgbClr val="0f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Rectangle 2"/>
          <p:cNvSpPr/>
          <p:nvPr/>
        </p:nvSpPr>
        <p:spPr>
          <a:xfrm>
            <a:off x="0" y="1234440"/>
            <a:ext cx="12191400" cy="4068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Rectangle 3"/>
          <p:cNvSpPr/>
          <p:nvPr/>
        </p:nvSpPr>
        <p:spPr>
          <a:xfrm>
            <a:off x="5486400" y="1234440"/>
            <a:ext cx="6705000" cy="4068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4"/>
          <p:cNvSpPr/>
          <p:nvPr/>
        </p:nvSpPr>
        <p:spPr>
          <a:xfrm>
            <a:off x="502920" y="201240"/>
            <a:ext cx="91436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e88a1e"/>
                </a:solidFill>
                <a:latin typeface="Calibri"/>
              </a:rPr>
              <a:t>WHERE THE PROJECT STANDS TODAY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6" name="TextBox 5"/>
          <p:cNvSpPr/>
          <p:nvPr/>
        </p:nvSpPr>
        <p:spPr>
          <a:xfrm>
            <a:off x="502920" y="457200"/>
            <a:ext cx="10515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Project Status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57" name="Rounded Rectangle 6"/>
          <p:cNvSpPr/>
          <p:nvPr/>
        </p:nvSpPr>
        <p:spPr>
          <a:xfrm>
            <a:off x="502920" y="1600200"/>
            <a:ext cx="5486040" cy="4251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Rectangle 7"/>
          <p:cNvSpPr/>
          <p:nvPr/>
        </p:nvSpPr>
        <p:spPr>
          <a:xfrm>
            <a:off x="502920" y="1600200"/>
            <a:ext cx="82080" cy="4251600"/>
          </a:xfrm>
          <a:prstGeom prst="rect">
            <a:avLst/>
          </a:prstGeom>
          <a:solidFill>
            <a:srgbClr val="1f4a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8"/>
          <p:cNvSpPr/>
          <p:nvPr/>
        </p:nvSpPr>
        <p:spPr>
          <a:xfrm>
            <a:off x="868680" y="1828800"/>
            <a:ext cx="4845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2303c"/>
                </a:solidFill>
                <a:latin typeface="Calibri"/>
              </a:rPr>
              <a:t>Current project state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0" name="TextBox 9"/>
          <p:cNvSpPr/>
          <p:nvPr/>
        </p:nvSpPr>
        <p:spPr>
          <a:xfrm>
            <a:off x="868680" y="2377440"/>
            <a:ext cx="4845960" cy="14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35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350" spc="-1" strike="noStrike">
                <a:solidFill>
                  <a:srgbClr val="22303c"/>
                </a:solidFill>
                <a:latin typeface="Calibri"/>
              </a:rPr>
              <a:t>Manager / worker model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35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350" spc="-1" strike="noStrike">
                <a:solidFill>
                  <a:srgbClr val="22303c"/>
                </a:solidFill>
                <a:latin typeface="Calibri"/>
              </a:rPr>
              <a:t>Docker-based orchestration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35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350" spc="-1" strike="noStrike">
                <a:solidFill>
                  <a:srgbClr val="22303c"/>
                </a:solidFill>
                <a:latin typeface="Calibri"/>
              </a:rPr>
              <a:t>Custom scheduler (no Kubernetes dependency)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35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350" spc="-1" strike="noStrike">
                <a:solidFill>
                  <a:srgbClr val="22303c"/>
                </a:solidFill>
                <a:latin typeface="Calibri"/>
              </a:rPr>
              <a:t>etcd-based coordination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61" name="Rounded Rectangle 10"/>
          <p:cNvSpPr/>
          <p:nvPr/>
        </p:nvSpPr>
        <p:spPr>
          <a:xfrm>
            <a:off x="6263640" y="1600200"/>
            <a:ext cx="5440320" cy="1371240"/>
          </a:xfrm>
          <a:prstGeom prst="roundRect">
            <a:avLst>
              <a:gd name="adj" fmla="val 8000"/>
            </a:avLst>
          </a:prstGeom>
          <a:solidFill>
            <a:srgbClr val="fdf1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TextBox 11"/>
          <p:cNvSpPr/>
          <p:nvPr/>
        </p:nvSpPr>
        <p:spPr>
          <a:xfrm>
            <a:off x="6556320" y="1746360"/>
            <a:ext cx="4854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0f2a3d"/>
                </a:solidFill>
                <a:latin typeface="Calibri"/>
              </a:rPr>
              <a:t>Network-aware scheduling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63" name="TextBox 12"/>
          <p:cNvSpPr/>
          <p:nvPr/>
        </p:nvSpPr>
        <p:spPr>
          <a:xfrm>
            <a:off x="6556320" y="2075760"/>
            <a:ext cx="4854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150" spc="-1" strike="noStrike">
                <a:solidFill>
                  <a:srgbClr val="22303c"/>
                </a:solidFill>
                <a:latin typeface="Calibri"/>
              </a:rPr>
              <a:t>Already exists in the pipeline — latency and topology cost inform placement decisions today.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4" name="Rounded Rectangle 13"/>
          <p:cNvSpPr/>
          <p:nvPr/>
        </p:nvSpPr>
        <p:spPr>
          <a:xfrm>
            <a:off x="6263640" y="3200400"/>
            <a:ext cx="5440320" cy="1371240"/>
          </a:xfrm>
          <a:prstGeom prst="roundRect">
            <a:avLst>
              <a:gd name="adj" fmla="val 8000"/>
            </a:avLst>
          </a:prstGeom>
          <a:solidFill>
            <a:srgbClr val="e4f3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TextBox 14"/>
          <p:cNvSpPr/>
          <p:nvPr/>
        </p:nvSpPr>
        <p:spPr>
          <a:xfrm>
            <a:off x="6556320" y="3346560"/>
            <a:ext cx="4854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0f2a3d"/>
                </a:solidFill>
                <a:latin typeface="Calibri"/>
              </a:rPr>
              <a:t>Energy-aware extension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66" name="TextBox 15"/>
          <p:cNvSpPr/>
          <p:nvPr/>
        </p:nvSpPr>
        <p:spPr>
          <a:xfrm>
            <a:off x="6556320" y="3675960"/>
            <a:ext cx="4854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150" spc="-1" strike="noStrike">
                <a:solidFill>
                  <a:srgbClr val="22303c"/>
                </a:solidFill>
                <a:latin typeface="Calibri"/>
              </a:rPr>
              <a:t>Added as a minimal, incremental scoring layer — not a rewrite of the scheduler.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7" name="Rounded Rectangle 16"/>
          <p:cNvSpPr/>
          <p:nvPr/>
        </p:nvSpPr>
        <p:spPr>
          <a:xfrm>
            <a:off x="6263640" y="4800600"/>
            <a:ext cx="5440320" cy="1051200"/>
          </a:xfrm>
          <a:prstGeom prst="roundRect">
            <a:avLst>
              <a:gd name="adj" fmla="val 8000"/>
            </a:avLst>
          </a:prstGeom>
          <a:solidFill>
            <a:srgbClr val="0f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TextBox 17"/>
          <p:cNvSpPr/>
          <p:nvPr/>
        </p:nvSpPr>
        <p:spPr>
          <a:xfrm>
            <a:off x="6556320" y="4928760"/>
            <a:ext cx="456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e88a1e"/>
                </a:solidFill>
                <a:latin typeface="Calibri"/>
              </a:rPr>
              <a:t>“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9" name="TextBox 18"/>
          <p:cNvSpPr/>
          <p:nvPr/>
        </p:nvSpPr>
        <p:spPr>
          <a:xfrm>
            <a:off x="6885360" y="4983480"/>
            <a:ext cx="4525920" cy="4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i="1" lang="en-US" sz="1150" spc="-1" strike="noStrike">
                <a:solidFill>
                  <a:srgbClr val="ffffff"/>
                </a:solidFill>
                <a:latin typeface="Calibri"/>
              </a:rPr>
              <a:t>Rather than starting from scratch, I extended the scheduler I had already built for this project.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0" name="TextBox 19"/>
          <p:cNvSpPr/>
          <p:nvPr/>
        </p:nvSpPr>
        <p:spPr>
          <a:xfrm>
            <a:off x="502920" y="5989320"/>
            <a:ext cx="10972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697482"/>
                </a:solidFill>
                <a:latin typeface="Calibri"/>
              </a:rPr>
              <a:t>Research direction: combine network cost and energy cost in one fused scheduling score.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1" name="Rectangle 20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Rectangle 21"/>
          <p:cNvSpPr/>
          <p:nvPr/>
        </p:nvSpPr>
        <p:spPr>
          <a:xfrm>
            <a:off x="4267080" y="6803280"/>
            <a:ext cx="7924320" cy="5436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22"/>
          <p:cNvSpPr/>
          <p:nvPr/>
        </p:nvSpPr>
        <p:spPr>
          <a:xfrm>
            <a:off x="10911600" y="6473880"/>
            <a:ext cx="1005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aa5b1"/>
                </a:solidFill>
                <a:latin typeface="Calibri"/>
              </a:rPr>
              <a:t>2 /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TextBox 23"/>
          <p:cNvSpPr/>
          <p:nvPr/>
        </p:nvSpPr>
        <p:spPr>
          <a:xfrm>
            <a:off x="502920" y="6473880"/>
            <a:ext cx="36572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9aa5b1"/>
                </a:solidFill>
                <a:latin typeface="Calibri"/>
              </a:rPr>
              <a:t>OKUBE  •  MIDSEM EVALUATION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1234080"/>
          </a:xfrm>
          <a:prstGeom prst="rect">
            <a:avLst/>
          </a:prstGeom>
          <a:solidFill>
            <a:srgbClr val="0f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Rectangle 2"/>
          <p:cNvSpPr/>
          <p:nvPr/>
        </p:nvSpPr>
        <p:spPr>
          <a:xfrm>
            <a:off x="0" y="1234440"/>
            <a:ext cx="12191400" cy="4068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Rectangle 3"/>
          <p:cNvSpPr/>
          <p:nvPr/>
        </p:nvSpPr>
        <p:spPr>
          <a:xfrm>
            <a:off x="5486400" y="1234440"/>
            <a:ext cx="6705000" cy="4068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TextBox 4"/>
          <p:cNvSpPr/>
          <p:nvPr/>
        </p:nvSpPr>
        <p:spPr>
          <a:xfrm>
            <a:off x="502920" y="201240"/>
            <a:ext cx="91436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e88a1e"/>
                </a:solidFill>
                <a:latin typeface="Calibri"/>
              </a:rPr>
              <a:t>WHAT WE ARE BUILDING ON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502920" y="457200"/>
            <a:ext cx="10515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Research Basis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502920" y="1600200"/>
            <a:ext cx="3565800" cy="379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Rectangle 7"/>
          <p:cNvSpPr/>
          <p:nvPr/>
        </p:nvSpPr>
        <p:spPr>
          <a:xfrm>
            <a:off x="502920" y="1600200"/>
            <a:ext cx="3565800" cy="8208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Rounded Rectangle 8"/>
          <p:cNvSpPr/>
          <p:nvPr/>
        </p:nvSpPr>
        <p:spPr>
          <a:xfrm>
            <a:off x="777240" y="1892880"/>
            <a:ext cx="1462680" cy="310680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e88a1e"/>
                </a:solidFill>
                <a:latin typeface="Calibri"/>
              </a:rPr>
              <a:t>NETWORK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777240" y="2377440"/>
            <a:ext cx="3017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2303c"/>
                </a:solidFill>
                <a:latin typeface="Calibri"/>
              </a:rPr>
              <a:t>Diktyo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777240" y="2834640"/>
            <a:ext cx="301716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i="1" lang="en-US" sz="1200" spc="-1" strike="noStrike">
                <a:solidFill>
                  <a:srgbClr val="697482"/>
                </a:solidFill>
                <a:latin typeface="Calibri"/>
              </a:rPr>
              <a:t>Network-aware placement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777240" y="3566160"/>
            <a:ext cx="3017160" cy="9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1199"/>
              </a:spcAft>
              <a:buNone/>
            </a:pPr>
            <a:r>
              <a:rPr b="1" lang="en-US" sz="1200" spc="-1" strike="noStrike">
                <a:solidFill>
                  <a:srgbClr val="e88a1e"/>
                </a:solidFill>
                <a:latin typeface="Calibri"/>
              </a:rPr>
              <a:t>▪  </a:t>
            </a: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Latency- and bandwidth-aware scheduling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  <a:buNone/>
            </a:pPr>
            <a:r>
              <a:rPr b="1" lang="en-US" sz="1200" spc="-1" strike="noStrike">
                <a:solidFill>
                  <a:srgbClr val="e88a1e"/>
                </a:solidFill>
                <a:latin typeface="Calibri"/>
              </a:rPr>
              <a:t>▪  </a:t>
            </a: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Strong fit for microservice placement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6" name="Rounded Rectangle 12"/>
          <p:cNvSpPr/>
          <p:nvPr/>
        </p:nvSpPr>
        <p:spPr>
          <a:xfrm>
            <a:off x="4325040" y="1600200"/>
            <a:ext cx="3565800" cy="379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Rectangle 13"/>
          <p:cNvSpPr/>
          <p:nvPr/>
        </p:nvSpPr>
        <p:spPr>
          <a:xfrm>
            <a:off x="4325040" y="1600200"/>
            <a:ext cx="3565800" cy="8208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Rounded Rectangle 14"/>
          <p:cNvSpPr/>
          <p:nvPr/>
        </p:nvSpPr>
        <p:spPr>
          <a:xfrm>
            <a:off x="4599360" y="1892880"/>
            <a:ext cx="1462680" cy="310680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2e8b57"/>
                </a:solidFill>
                <a:latin typeface="Calibri"/>
              </a:rPr>
              <a:t>ENERGY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4599360" y="2377440"/>
            <a:ext cx="3017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2303c"/>
                </a:solidFill>
                <a:latin typeface="Calibri"/>
              </a:rPr>
              <a:t>Saad et al. (2025)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4599360" y="2834640"/>
            <a:ext cx="3017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i="1" lang="en-US" sz="1200" spc="-1" strike="noStrike">
                <a:solidFill>
                  <a:srgbClr val="697482"/>
                </a:solidFill>
                <a:latin typeface="Calibri"/>
              </a:rPr>
              <a:t>Federated Kepler-based energy prediction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4599360" y="3566160"/>
            <a:ext cx="30171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1199"/>
              </a:spcAft>
              <a:buNone/>
            </a:pPr>
            <a:r>
              <a:rPr b="1" lang="en-US" sz="1200" spc="-1" strike="noStrike">
                <a:solidFill>
                  <a:srgbClr val="2e8b57"/>
                </a:solidFill>
                <a:latin typeface="Calibri"/>
              </a:rPr>
              <a:t>▪  </a:t>
            </a: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Predicts per-workload energy consumption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  <a:buNone/>
            </a:pPr>
            <a:r>
              <a:rPr b="1" lang="en-US" sz="1200" spc="-1" strike="noStrike">
                <a:solidFill>
                  <a:srgbClr val="2e8b57"/>
                </a:solidFill>
                <a:latin typeface="Calibri"/>
              </a:rPr>
              <a:t>▪  </a:t>
            </a: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Does not decide scheduling itself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Rounded Rectangle 18"/>
          <p:cNvSpPr/>
          <p:nvPr/>
        </p:nvSpPr>
        <p:spPr>
          <a:xfrm>
            <a:off x="8147160" y="1600200"/>
            <a:ext cx="3565800" cy="379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ectangle 19"/>
          <p:cNvSpPr/>
          <p:nvPr/>
        </p:nvSpPr>
        <p:spPr>
          <a:xfrm>
            <a:off x="8147160" y="1600200"/>
            <a:ext cx="3565800" cy="82080"/>
          </a:xfrm>
          <a:prstGeom prst="rect">
            <a:avLst/>
          </a:prstGeom>
          <a:solidFill>
            <a:srgbClr val="1f4a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Rounded Rectangle 20"/>
          <p:cNvSpPr/>
          <p:nvPr/>
        </p:nvSpPr>
        <p:spPr>
          <a:xfrm>
            <a:off x="8421480" y="1892880"/>
            <a:ext cx="1462680" cy="310680"/>
          </a:xfrm>
          <a:prstGeom prst="roundRect">
            <a:avLst>
              <a:gd name="adj" fmla="val 50000"/>
            </a:avLst>
          </a:prstGeom>
          <a:solidFill>
            <a:srgbClr val="e7ec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1f4a66"/>
                </a:solidFill>
                <a:latin typeface="Calibri"/>
              </a:rPr>
              <a:t>MECHANISM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8421480" y="2377440"/>
            <a:ext cx="3017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2303c"/>
                </a:solidFill>
                <a:latin typeface="Calibri"/>
              </a:rPr>
              <a:t>Piontek et al.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8421480" y="2834640"/>
            <a:ext cx="301716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i="1" lang="en-US" sz="1200" spc="-1" strike="noStrike">
                <a:solidFill>
                  <a:srgbClr val="697482"/>
                </a:solidFill>
                <a:latin typeface="Calibri"/>
              </a:rPr>
              <a:t>Scheduling mechanism pattern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7" name="TextBox 23"/>
          <p:cNvSpPr/>
          <p:nvPr/>
        </p:nvSpPr>
        <p:spPr>
          <a:xfrm>
            <a:off x="8421480" y="3566160"/>
            <a:ext cx="3017160" cy="9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1199"/>
              </a:spcAft>
              <a:buNone/>
            </a:pPr>
            <a:r>
              <a:rPr b="1" lang="en-US" sz="120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Distinguishes critical vs. shiftable jobs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  <a:buNone/>
            </a:pPr>
            <a:r>
              <a:rPr b="1" lang="en-US" sz="120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Delays shiftable work to lower-carbon windows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Rounded Rectangle 24"/>
          <p:cNvSpPr/>
          <p:nvPr/>
        </p:nvSpPr>
        <p:spPr>
          <a:xfrm>
            <a:off x="502920" y="5577840"/>
            <a:ext cx="11182680" cy="776880"/>
          </a:xfrm>
          <a:prstGeom prst="roundRect">
            <a:avLst>
              <a:gd name="adj" fmla="val 8000"/>
            </a:avLst>
          </a:prstGeom>
          <a:solidFill>
            <a:srgbClr val="0f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25"/>
          <p:cNvSpPr/>
          <p:nvPr/>
        </p:nvSpPr>
        <p:spPr>
          <a:xfrm>
            <a:off x="822960" y="5881320"/>
            <a:ext cx="146268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e88a1e"/>
                </a:solidFill>
                <a:latin typeface="Calibri"/>
              </a:rPr>
              <a:t>TAKEAWAY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0" name="TextBox 26"/>
          <p:cNvSpPr/>
          <p:nvPr/>
        </p:nvSpPr>
        <p:spPr>
          <a:xfrm>
            <a:off x="2103120" y="5751360"/>
            <a:ext cx="932652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The contribution is not to reproduce one paper wholesale — it is to combine the stronger energy signal (Saad et al.) with the scheduling mechanism (Piontek et al.) on top of the existing network-aware base (Diktyo).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Rectangle 27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Rectangle 28"/>
          <p:cNvSpPr/>
          <p:nvPr/>
        </p:nvSpPr>
        <p:spPr>
          <a:xfrm>
            <a:off x="4267080" y="6803280"/>
            <a:ext cx="7924320" cy="5436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29"/>
          <p:cNvSpPr/>
          <p:nvPr/>
        </p:nvSpPr>
        <p:spPr>
          <a:xfrm>
            <a:off x="10911600" y="6473880"/>
            <a:ext cx="1005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aa5b1"/>
                </a:solidFill>
                <a:latin typeface="Calibri"/>
              </a:rPr>
              <a:t>3 /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4" name="TextBox 30"/>
          <p:cNvSpPr/>
          <p:nvPr/>
        </p:nvSpPr>
        <p:spPr>
          <a:xfrm>
            <a:off x="502920" y="6473880"/>
            <a:ext cx="36572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9aa5b1"/>
                </a:solidFill>
                <a:latin typeface="Calibri"/>
              </a:rPr>
              <a:t>OKUBE  •  MIDSEM EVALUATION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1234080"/>
          </a:xfrm>
          <a:prstGeom prst="rect">
            <a:avLst/>
          </a:prstGeom>
          <a:solidFill>
            <a:srgbClr val="0f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2"/>
          <p:cNvSpPr/>
          <p:nvPr/>
        </p:nvSpPr>
        <p:spPr>
          <a:xfrm>
            <a:off x="0" y="1234440"/>
            <a:ext cx="12191400" cy="4068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Rectangle 3"/>
          <p:cNvSpPr/>
          <p:nvPr/>
        </p:nvSpPr>
        <p:spPr>
          <a:xfrm>
            <a:off x="5486400" y="1234440"/>
            <a:ext cx="6705000" cy="4068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TextBox 4"/>
          <p:cNvSpPr/>
          <p:nvPr/>
        </p:nvSpPr>
        <p:spPr>
          <a:xfrm>
            <a:off x="502920" y="201240"/>
            <a:ext cx="91436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e88a1e"/>
                </a:solidFill>
                <a:latin typeface="Calibri"/>
              </a:rPr>
              <a:t>HOW THE FUSED SCORE IS COMPUTED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502920" y="457200"/>
            <a:ext cx="10515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System Architecture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10" name="Rounded Rectangle 6"/>
          <p:cNvSpPr/>
          <p:nvPr/>
        </p:nvSpPr>
        <p:spPr>
          <a:xfrm>
            <a:off x="502920" y="1600200"/>
            <a:ext cx="3245760" cy="1051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TextBox 7"/>
          <p:cNvSpPr/>
          <p:nvPr/>
        </p:nvSpPr>
        <p:spPr>
          <a:xfrm>
            <a:off x="731520" y="1710000"/>
            <a:ext cx="28342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f4a66"/>
                </a:solidFill>
                <a:latin typeface="Calibri"/>
              </a:rPr>
              <a:t>TASK METADATA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731520" y="20026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criticality  ·  flexibility  ·  deadline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Rounded Rectangle 9"/>
          <p:cNvSpPr/>
          <p:nvPr/>
        </p:nvSpPr>
        <p:spPr>
          <a:xfrm>
            <a:off x="3977640" y="1600200"/>
            <a:ext cx="3245760" cy="1051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TextBox 10"/>
          <p:cNvSpPr/>
          <p:nvPr/>
        </p:nvSpPr>
        <p:spPr>
          <a:xfrm>
            <a:off x="4206240" y="1710000"/>
            <a:ext cx="28342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f4a66"/>
                </a:solidFill>
                <a:latin typeface="Calibri"/>
              </a:rPr>
              <a:t>NODE METADATA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4206240" y="2002680"/>
            <a:ext cx="28342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carbon intensity  ·  resource load  ·  topology / latency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7360920" y="1600200"/>
            <a:ext cx="4297320" cy="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" spc="-1" strike="noStrike">
                <a:solidFill>
                  <a:srgbClr val="f6f7f9"/>
                </a:solidFill>
                <a:latin typeface="Calibri"/>
              </a:rPr>
              <a:t>feeds</a:t>
            </a:r>
            <a:endParaRPr b="0" lang="en-IN" sz="100" spc="-1" strike="noStrike"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1737360" y="2679120"/>
            <a:ext cx="5299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97482"/>
                </a:solidFill>
                <a:latin typeface="Calibri"/>
              </a:rPr>
              <a:t>▼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5212080" y="2679120"/>
            <a:ext cx="5299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97482"/>
                </a:solidFill>
                <a:latin typeface="Calibri"/>
              </a:rPr>
              <a:t>▼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9" name="Rounded Rectangle 15"/>
          <p:cNvSpPr/>
          <p:nvPr/>
        </p:nvSpPr>
        <p:spPr>
          <a:xfrm>
            <a:off x="502920" y="3035880"/>
            <a:ext cx="3291480" cy="1005480"/>
          </a:xfrm>
          <a:prstGeom prst="roundRect">
            <a:avLst>
              <a:gd name="adj" fmla="val 7000"/>
            </a:avLst>
          </a:prstGeom>
          <a:solidFill>
            <a:srgbClr val="e4f3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16"/>
          <p:cNvSpPr/>
          <p:nvPr/>
        </p:nvSpPr>
        <p:spPr>
          <a:xfrm>
            <a:off x="704160" y="3163680"/>
            <a:ext cx="28890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0f2a3d"/>
                </a:solidFill>
                <a:latin typeface="Calibri"/>
              </a:rPr>
              <a:t>ENERGY ESTIMATE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1" name="TextBox 17"/>
          <p:cNvSpPr/>
          <p:nvPr/>
        </p:nvSpPr>
        <p:spPr>
          <a:xfrm>
            <a:off x="704160" y="3474720"/>
            <a:ext cx="2889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100" spc="-1" strike="noStrike">
                <a:solidFill>
                  <a:srgbClr val="22303c"/>
                </a:solidFill>
                <a:latin typeface="Calibri"/>
              </a:rPr>
              <a:t>predict energy draw per node / task pair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TextBox 18"/>
          <p:cNvSpPr/>
          <p:nvPr/>
        </p:nvSpPr>
        <p:spPr>
          <a:xfrm>
            <a:off x="3794760" y="3390120"/>
            <a:ext cx="38376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697482"/>
                </a:solidFill>
                <a:latin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23" name="Rounded Rectangle 19"/>
          <p:cNvSpPr/>
          <p:nvPr/>
        </p:nvSpPr>
        <p:spPr>
          <a:xfrm>
            <a:off x="4178880" y="3035880"/>
            <a:ext cx="3291480" cy="1005480"/>
          </a:xfrm>
          <a:prstGeom prst="roundRect">
            <a:avLst>
              <a:gd name="adj" fmla="val 7000"/>
            </a:avLst>
          </a:prstGeom>
          <a:solidFill>
            <a:srgbClr val="e4f3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20"/>
          <p:cNvSpPr/>
          <p:nvPr/>
        </p:nvSpPr>
        <p:spPr>
          <a:xfrm>
            <a:off x="4380120" y="3163680"/>
            <a:ext cx="28890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0f2a3d"/>
                </a:solidFill>
                <a:latin typeface="Calibri"/>
              </a:rPr>
              <a:t>CARBON CONVERSION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TextBox 21"/>
          <p:cNvSpPr/>
          <p:nvPr/>
        </p:nvSpPr>
        <p:spPr>
          <a:xfrm>
            <a:off x="4380120" y="3474720"/>
            <a:ext cx="2889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100" spc="-1" strike="noStrike">
                <a:solidFill>
                  <a:srgbClr val="22303c"/>
                </a:solidFill>
                <a:latin typeface="Calibri"/>
              </a:rPr>
              <a:t>energy × carbon intensity = CO₂ cost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6" name="TextBox 22"/>
          <p:cNvSpPr/>
          <p:nvPr/>
        </p:nvSpPr>
        <p:spPr>
          <a:xfrm>
            <a:off x="7470720" y="3390120"/>
            <a:ext cx="38376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697482"/>
                </a:solidFill>
                <a:latin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27" name="Rounded Rectangle 23"/>
          <p:cNvSpPr/>
          <p:nvPr/>
        </p:nvSpPr>
        <p:spPr>
          <a:xfrm>
            <a:off x="7854840" y="3035880"/>
            <a:ext cx="3291480" cy="1005480"/>
          </a:xfrm>
          <a:prstGeom prst="roundRect">
            <a:avLst>
              <a:gd name="adj" fmla="val 7000"/>
            </a:avLst>
          </a:prstGeom>
          <a:solidFill>
            <a:srgbClr val="0f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24"/>
          <p:cNvSpPr/>
          <p:nvPr/>
        </p:nvSpPr>
        <p:spPr>
          <a:xfrm>
            <a:off x="8055720" y="3163680"/>
            <a:ext cx="28890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FUSED SCORE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TextBox 25"/>
          <p:cNvSpPr/>
          <p:nvPr/>
        </p:nvSpPr>
        <p:spPr>
          <a:xfrm>
            <a:off x="8055720" y="3474720"/>
            <a:ext cx="2889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100" spc="-1" strike="noStrike">
                <a:solidFill>
                  <a:srgbClr val="d8e6ee"/>
                </a:solidFill>
                <a:latin typeface="Calibri"/>
              </a:rPr>
              <a:t>network score  +  energy score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0" name="TextBox 26"/>
          <p:cNvSpPr/>
          <p:nvPr/>
        </p:nvSpPr>
        <p:spPr>
          <a:xfrm>
            <a:off x="9363600" y="4087440"/>
            <a:ext cx="5299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97482"/>
                </a:solidFill>
                <a:latin typeface="Calibri"/>
              </a:rPr>
              <a:t>▼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1" name="TextBox 27"/>
          <p:cNvSpPr/>
          <p:nvPr/>
        </p:nvSpPr>
        <p:spPr>
          <a:xfrm>
            <a:off x="502920" y="445320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697482"/>
                </a:solidFill>
                <a:latin typeface="Calibri"/>
              </a:rPr>
              <a:t>DECISION POLICY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2" name="Rounded Rectangle 28"/>
          <p:cNvSpPr/>
          <p:nvPr/>
        </p:nvSpPr>
        <p:spPr>
          <a:xfrm>
            <a:off x="502920" y="4791600"/>
            <a:ext cx="5394600" cy="1051200"/>
          </a:xfrm>
          <a:prstGeom prst="roundRect">
            <a:avLst>
              <a:gd name="adj" fmla="val 7000"/>
            </a:avLst>
          </a:prstGeom>
          <a:solidFill>
            <a:srgbClr val="fdf1dd"/>
          </a:solidFill>
          <a:ln w="15875">
            <a:solidFill>
              <a:srgbClr val="e88a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29"/>
          <p:cNvSpPr/>
          <p:nvPr/>
        </p:nvSpPr>
        <p:spPr>
          <a:xfrm>
            <a:off x="777240" y="4919400"/>
            <a:ext cx="4845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0f2a3d"/>
                </a:solidFill>
                <a:latin typeface="Calibri"/>
              </a:rPr>
              <a:t>Critical jobs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34" name="TextBox 30"/>
          <p:cNvSpPr/>
          <p:nvPr/>
        </p:nvSpPr>
        <p:spPr>
          <a:xfrm>
            <a:off x="777240" y="5266800"/>
            <a:ext cx="4845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Prefer safe, lower-latency placements — network cost dominates the fused score.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Rounded Rectangle 31"/>
          <p:cNvSpPr/>
          <p:nvPr/>
        </p:nvSpPr>
        <p:spPr>
          <a:xfrm>
            <a:off x="6172200" y="4791600"/>
            <a:ext cx="5394600" cy="1051200"/>
          </a:xfrm>
          <a:prstGeom prst="roundRect">
            <a:avLst>
              <a:gd name="adj" fmla="val 7000"/>
            </a:avLst>
          </a:prstGeom>
          <a:solidFill>
            <a:srgbClr val="e4f3ea"/>
          </a:solidFill>
          <a:ln w="15875">
            <a:solidFill>
              <a:srgbClr val="2e8b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TextBox 32"/>
          <p:cNvSpPr/>
          <p:nvPr/>
        </p:nvSpPr>
        <p:spPr>
          <a:xfrm>
            <a:off x="6446520" y="4919400"/>
            <a:ext cx="4845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0f2a3d"/>
                </a:solidFill>
                <a:latin typeface="Calibri"/>
              </a:rPr>
              <a:t>Flexible jobs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37" name="TextBox 33"/>
          <p:cNvSpPr/>
          <p:nvPr/>
        </p:nvSpPr>
        <p:spPr>
          <a:xfrm>
            <a:off x="6446520" y="5266800"/>
            <a:ext cx="4845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200" spc="-1" strike="noStrike">
                <a:solidFill>
                  <a:srgbClr val="22303c"/>
                </a:solidFill>
                <a:latin typeface="Calibri"/>
              </a:rPr>
              <a:t>Prefer lower-carbon, lower-energy placements — energy cost dominates the fused score.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Rectangle 34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Rectangle 35"/>
          <p:cNvSpPr/>
          <p:nvPr/>
        </p:nvSpPr>
        <p:spPr>
          <a:xfrm>
            <a:off x="4267080" y="6803280"/>
            <a:ext cx="7924320" cy="5436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36"/>
          <p:cNvSpPr/>
          <p:nvPr/>
        </p:nvSpPr>
        <p:spPr>
          <a:xfrm>
            <a:off x="10911600" y="6473880"/>
            <a:ext cx="1005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aa5b1"/>
                </a:solidFill>
                <a:latin typeface="Calibri"/>
              </a:rPr>
              <a:t>4 /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1" name="TextBox 37"/>
          <p:cNvSpPr/>
          <p:nvPr/>
        </p:nvSpPr>
        <p:spPr>
          <a:xfrm>
            <a:off x="502920" y="6473880"/>
            <a:ext cx="36572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9aa5b1"/>
                </a:solidFill>
                <a:latin typeface="Calibri"/>
              </a:rPr>
              <a:t>OKUBE  •  MIDSEM EVALUATION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400" cy="1234080"/>
          </a:xfrm>
          <a:prstGeom prst="rect">
            <a:avLst/>
          </a:prstGeom>
          <a:solidFill>
            <a:srgbClr val="0f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Rectangle 2"/>
          <p:cNvSpPr/>
          <p:nvPr/>
        </p:nvSpPr>
        <p:spPr>
          <a:xfrm>
            <a:off x="0" y="1234440"/>
            <a:ext cx="12191400" cy="4068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Rectangle 3"/>
          <p:cNvSpPr/>
          <p:nvPr/>
        </p:nvSpPr>
        <p:spPr>
          <a:xfrm>
            <a:off x="5486400" y="1234440"/>
            <a:ext cx="6705000" cy="4068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TextBox 4"/>
          <p:cNvSpPr/>
          <p:nvPr/>
        </p:nvSpPr>
        <p:spPr>
          <a:xfrm>
            <a:off x="502920" y="201240"/>
            <a:ext cx="91436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e88a1e"/>
                </a:solidFill>
                <a:latin typeface="Calibri"/>
              </a:rPr>
              <a:t>HOW WE WILL KNOW IT WORKS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502920" y="457200"/>
            <a:ext cx="10515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Evaluation &amp; Future Work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502920" y="1581840"/>
            <a:ext cx="5486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697482"/>
                </a:solidFill>
                <a:latin typeface="Calibri"/>
              </a:rPr>
              <a:t>BASELINES UNDER COMPARISON</a:t>
            </a:r>
            <a:endParaRPr b="0" lang="en-IN" sz="1050" spc="-1" strike="noStrike">
              <a:latin typeface="Arial"/>
            </a:endParaRPr>
          </a:p>
        </p:txBody>
      </p:sp>
      <p:graphicFrame>
        <p:nvGraphicFramePr>
          <p:cNvPr id="148" name="Table 7"/>
          <p:cNvGraphicFramePr/>
          <p:nvPr/>
        </p:nvGraphicFramePr>
        <p:xfrm>
          <a:off x="502920" y="1892880"/>
          <a:ext cx="11182680" cy="1535760"/>
        </p:xfrm>
        <a:graphic>
          <a:graphicData uri="http://schemas.openxmlformats.org/drawingml/2006/table">
            <a:tbl>
              <a:tblPr/>
              <a:tblGrid>
                <a:gridCol w="4937760"/>
                <a:gridCol w="3108960"/>
                <a:gridCol w="3136320"/>
              </a:tblGrid>
              <a:tr h="307080">
                <a:tc>
                  <a:txBody>
                    <a:bodyPr lIns="1645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Network-aware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Energy-aware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307080">
                <a:tc>
                  <a:txBody>
                    <a:bodyPr lIns="1645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22303c"/>
                          </a:solidFill>
                          <a:latin typeface="Calibri"/>
                        </a:rPr>
                        <a:t>Default scheduler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9aa5b1"/>
                          </a:solidFill>
                          <a:latin typeface="Calibri"/>
                        </a:rPr>
                        <a:t>–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9aa5b1"/>
                          </a:solidFill>
                          <a:latin typeface="Calibri"/>
                        </a:rPr>
                        <a:t>–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7080">
                <a:tc>
                  <a:txBody>
                    <a:bodyPr lIns="1645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22303c"/>
                          </a:solidFill>
                          <a:latin typeface="Calibri"/>
                        </a:rPr>
                        <a:t>Network-only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e88a1e"/>
                          </a:solidFill>
                          <a:latin typeface="Calibri"/>
                        </a:rPr>
                        <a:t>✓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9aa5b1"/>
                          </a:solidFill>
                          <a:latin typeface="Calibri"/>
                        </a:rPr>
                        <a:t>–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3f6"/>
                    </a:solidFill>
                  </a:tcPr>
                </a:tc>
              </a:tr>
              <a:tr h="307080">
                <a:tc>
                  <a:txBody>
                    <a:bodyPr lIns="1645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22303c"/>
                          </a:solidFill>
                          <a:latin typeface="Calibri"/>
                        </a:rPr>
                        <a:t>Energy-only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9aa5b1"/>
                          </a:solidFill>
                          <a:latin typeface="Calibri"/>
                        </a:rPr>
                        <a:t>–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2e8b57"/>
                          </a:solidFill>
                          <a:latin typeface="Calibri"/>
                        </a:rPr>
                        <a:t>✓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7440">
                <a:tc>
                  <a:txBody>
                    <a:bodyPr lIns="1645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22303c"/>
                          </a:solidFill>
                          <a:latin typeface="Calibri"/>
                        </a:rPr>
                        <a:t>Fused network + energy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e88a1e"/>
                          </a:solidFill>
                          <a:latin typeface="Calibri"/>
                        </a:rPr>
                        <a:t>✓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 lIns="1645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2e8b57"/>
                          </a:solidFill>
                          <a:latin typeface="Calibri"/>
                        </a:rPr>
                        <a:t>✓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ctr" marL="16452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149" name="Rounded Rectangle 8"/>
          <p:cNvSpPr/>
          <p:nvPr/>
        </p:nvSpPr>
        <p:spPr>
          <a:xfrm>
            <a:off x="502920" y="3657600"/>
            <a:ext cx="5440320" cy="2697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Rectangle 9"/>
          <p:cNvSpPr/>
          <p:nvPr/>
        </p:nvSpPr>
        <p:spPr>
          <a:xfrm>
            <a:off x="502920" y="3657600"/>
            <a:ext cx="82080" cy="2697120"/>
          </a:xfrm>
          <a:prstGeom prst="rect">
            <a:avLst/>
          </a:prstGeom>
          <a:solidFill>
            <a:srgbClr val="1f4a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TextBox 10"/>
          <p:cNvSpPr/>
          <p:nvPr/>
        </p:nvSpPr>
        <p:spPr>
          <a:xfrm>
            <a:off x="868680" y="3803760"/>
            <a:ext cx="45259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303c"/>
                </a:solidFill>
                <a:latin typeface="Calibri"/>
              </a:rPr>
              <a:t>Evaluation metrics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2" name="TextBox 11"/>
          <p:cNvSpPr/>
          <p:nvPr/>
        </p:nvSpPr>
        <p:spPr>
          <a:xfrm>
            <a:off x="868680" y="4060080"/>
            <a:ext cx="4525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9aa5b1"/>
                </a:solidFill>
                <a:latin typeface="Calibri"/>
              </a:rPr>
              <a:t>metric  →  how it will be measured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3" name="TextBox 12"/>
          <p:cNvSpPr/>
          <p:nvPr/>
        </p:nvSpPr>
        <p:spPr>
          <a:xfrm>
            <a:off x="868680" y="4352400"/>
            <a:ext cx="4343040" cy="19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b="1" lang="en-US" sz="115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150" spc="-1" strike="noStrike">
                <a:solidFill>
                  <a:srgbClr val="22303c"/>
                </a:solidFill>
                <a:latin typeface="Calibri"/>
              </a:rPr>
              <a:t>Total CO₂ emitted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8000"/>
              </a:lnSpc>
              <a:spcBef>
                <a:spcPts val="99"/>
              </a:spcBef>
              <a:spcAft>
                <a:spcPts val="300"/>
              </a:spcAft>
              <a:buNone/>
            </a:pPr>
            <a:r>
              <a:rPr b="0" lang="en-US" sz="1050" spc="-1" strike="noStrike">
                <a:solidFill>
                  <a:srgbClr val="697482"/>
                </a:solidFill>
                <a:latin typeface="Calibri"/>
              </a:rPr>
              <a:t>      –  </a:t>
            </a:r>
            <a:r>
              <a:rPr b="0" lang="en-US" sz="1050" spc="-1" strike="noStrike">
                <a:solidFill>
                  <a:srgbClr val="697482"/>
                </a:solidFill>
                <a:latin typeface="Calibri"/>
              </a:rPr>
              <a:t>predicted energy × node carbon intensity, summed per run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b="1" lang="en-US" sz="115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150" spc="-1" strike="noStrike">
                <a:solidFill>
                  <a:srgbClr val="22303c"/>
                </a:solidFill>
                <a:latin typeface="Calibri"/>
              </a:rPr>
              <a:t>p95 latency / throughput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8000"/>
              </a:lnSpc>
              <a:spcBef>
                <a:spcPts val="99"/>
              </a:spcBef>
              <a:spcAft>
                <a:spcPts val="300"/>
              </a:spcAft>
              <a:buNone/>
            </a:pPr>
            <a:r>
              <a:rPr b="0" lang="en-US" sz="1050" spc="-1" strike="noStrike">
                <a:solidFill>
                  <a:srgbClr val="697482"/>
                </a:solidFill>
                <a:latin typeface="Calibri"/>
              </a:rPr>
              <a:t>      –  </a:t>
            </a:r>
            <a:r>
              <a:rPr b="0" lang="en-US" sz="1050" spc="-1" strike="noStrike">
                <a:solidFill>
                  <a:srgbClr val="697482"/>
                </a:solidFill>
                <a:latin typeface="Calibri"/>
              </a:rPr>
              <a:t>task start–finish timestamps from the scheduler log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b="1" lang="en-US" sz="115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150" spc="-1" strike="noStrike">
                <a:solidFill>
                  <a:srgbClr val="22303c"/>
                </a:solidFill>
                <a:latin typeface="Calibri"/>
              </a:rPr>
              <a:t>Deadline violation rate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8000"/>
              </a:lnSpc>
              <a:spcBef>
                <a:spcPts val="99"/>
              </a:spcBef>
              <a:spcAft>
                <a:spcPts val="300"/>
              </a:spcAft>
              <a:buNone/>
            </a:pPr>
            <a:r>
              <a:rPr b="0" lang="en-US" sz="1050" spc="-1" strike="noStrike">
                <a:solidFill>
                  <a:srgbClr val="697482"/>
                </a:solidFill>
                <a:latin typeface="Calibri"/>
              </a:rPr>
              <a:t>      –  </a:t>
            </a:r>
            <a:r>
              <a:rPr b="0" lang="en-US" sz="1050" spc="-1" strike="noStrike">
                <a:solidFill>
                  <a:srgbClr val="697482"/>
                </a:solidFill>
                <a:latin typeface="Calibri"/>
              </a:rPr>
              <a:t>share of tasks completed after their metadata deadline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b="1" lang="en-US" sz="1150" spc="-1" strike="noStrike">
                <a:solidFill>
                  <a:srgbClr val="1f4a66"/>
                </a:solidFill>
                <a:latin typeface="Calibri"/>
              </a:rPr>
              <a:t>▪  </a:t>
            </a:r>
            <a:r>
              <a:rPr b="0" lang="en-US" sz="1150" spc="-1" strike="noStrike">
                <a:solidFill>
                  <a:srgbClr val="22303c"/>
                </a:solidFill>
                <a:latin typeface="Calibri"/>
              </a:rPr>
              <a:t>Scheduling overhead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8000"/>
              </a:lnSpc>
              <a:spcBef>
                <a:spcPts val="99"/>
              </a:spcBef>
              <a:spcAft>
                <a:spcPts val="300"/>
              </a:spcAft>
              <a:buNone/>
            </a:pPr>
            <a:r>
              <a:rPr b="0" lang="en-US" sz="1050" spc="-1" strike="noStrike">
                <a:solidFill>
                  <a:srgbClr val="697482"/>
                </a:solidFill>
                <a:latin typeface="Calibri"/>
              </a:rPr>
              <a:t>      –  </a:t>
            </a:r>
            <a:r>
              <a:rPr b="0" lang="en-US" sz="1050" spc="-1" strike="noStrike">
                <a:solidFill>
                  <a:srgbClr val="697482"/>
                </a:solidFill>
                <a:latin typeface="Calibri"/>
              </a:rPr>
              <a:t>wall-clock time spent in the scoring path per cycle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4" name="Rounded Rectangle 13"/>
          <p:cNvSpPr/>
          <p:nvPr/>
        </p:nvSpPr>
        <p:spPr>
          <a:xfrm>
            <a:off x="6245280" y="3657600"/>
            <a:ext cx="5440320" cy="2697120"/>
          </a:xfrm>
          <a:prstGeom prst="roundRect">
            <a:avLst>
              <a:gd name="adj" fmla="val 4500"/>
            </a:avLst>
          </a:prstGeom>
          <a:solidFill>
            <a:srgbClr val="0f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TextBox 14"/>
          <p:cNvSpPr/>
          <p:nvPr/>
        </p:nvSpPr>
        <p:spPr>
          <a:xfrm>
            <a:off x="6611040" y="3803760"/>
            <a:ext cx="45259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Future work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Box 15"/>
          <p:cNvSpPr/>
          <p:nvPr/>
        </p:nvSpPr>
        <p:spPr>
          <a:xfrm>
            <a:off x="6611040" y="4187880"/>
            <a:ext cx="4343040" cy="15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en-US" sz="1100" spc="-1" strike="noStrike">
                <a:solidFill>
                  <a:srgbClr val="2e8b57"/>
                </a:solidFill>
                <a:latin typeface="Calibri"/>
              </a:rPr>
              <a:t>▪  </a:t>
            </a:r>
            <a:r>
              <a:rPr b="0" lang="en-US" sz="1100" spc="-1" strike="noStrike">
                <a:solidFill>
                  <a:srgbClr val="e7ecf1"/>
                </a:solidFill>
                <a:latin typeface="Calibri"/>
              </a:rPr>
              <a:t>Run the 4-configuration comparison and report results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8000"/>
              </a:lnSpc>
              <a:spcBef>
                <a:spcPts val="99"/>
              </a:spcBef>
              <a:spcAft>
                <a:spcPts val="400"/>
              </a:spcAft>
              <a:buNone/>
            </a:pPr>
            <a:r>
              <a:rPr b="0" lang="en-US" sz="1000" spc="-1" strike="noStrike">
                <a:solidFill>
                  <a:srgbClr val="a9bac9"/>
                </a:solidFill>
                <a:latin typeface="Calibri"/>
              </a:rPr>
              <a:t>      –  </a:t>
            </a:r>
            <a:r>
              <a:rPr b="0" lang="en-US" sz="1000" spc="-1" strike="noStrike">
                <a:solidFill>
                  <a:srgbClr val="a9bac9"/>
                </a:solidFill>
                <a:latin typeface="Calibri"/>
              </a:rPr>
              <a:t>weights + enable/disable flags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en-US" sz="1100" spc="-1" strike="noStrike">
                <a:solidFill>
                  <a:srgbClr val="2e8b57"/>
                </a:solidFill>
                <a:latin typeface="Calibri"/>
              </a:rPr>
              <a:t>▪  </a:t>
            </a:r>
            <a:r>
              <a:rPr b="0" lang="en-US" sz="1100" spc="-1" strike="noStrike">
                <a:solidFill>
                  <a:srgbClr val="e7ecf1"/>
                </a:solidFill>
                <a:latin typeface="Calibri"/>
              </a:rPr>
              <a:t>Real Kepler power model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en-US" sz="1100" spc="-1" strike="noStrike">
                <a:solidFill>
                  <a:srgbClr val="2e8b57"/>
                </a:solidFill>
                <a:latin typeface="Calibri"/>
              </a:rPr>
              <a:t>▪  </a:t>
            </a:r>
            <a:r>
              <a:rPr b="0" lang="en-US" sz="1100" spc="-1" strike="noStrike">
                <a:solidFill>
                  <a:srgbClr val="e7ecf1"/>
                </a:solidFill>
                <a:latin typeface="Calibri"/>
              </a:rPr>
              <a:t>Live carbon intensity feed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8000"/>
              </a:lnSpc>
              <a:spcBef>
                <a:spcPts val="99"/>
              </a:spcBef>
              <a:spcAft>
                <a:spcPts val="400"/>
              </a:spcAft>
              <a:buNone/>
            </a:pPr>
            <a:r>
              <a:rPr b="0" lang="en-US" sz="1000" spc="-1" strike="noStrike">
                <a:solidFill>
                  <a:srgbClr val="a9bac9"/>
                </a:solidFill>
                <a:latin typeface="Calibri"/>
              </a:rPr>
              <a:t>      –  </a:t>
            </a:r>
            <a:r>
              <a:rPr b="0" lang="en-US" sz="1000" spc="-1" strike="noStrike">
                <a:solidFill>
                  <a:srgbClr val="a9bac9"/>
                </a:solidFill>
                <a:latin typeface="Calibri"/>
              </a:rPr>
              <a:t>static config in place — swap in a live API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en-US" sz="1100" spc="-1" strike="noStrike">
                <a:solidFill>
                  <a:srgbClr val="2e8b57"/>
                </a:solidFill>
                <a:latin typeface="Calibri"/>
              </a:rPr>
              <a:t>▪  </a:t>
            </a:r>
            <a:r>
              <a:rPr b="0" lang="en-US" sz="1100" spc="-1" strike="noStrike">
                <a:solidFill>
                  <a:srgbClr val="e7ecf1"/>
                </a:solidFill>
                <a:latin typeface="Calibri"/>
              </a:rPr>
              <a:t>Stronger task flexibility policy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en-US" sz="1100" spc="-1" strike="noStrike">
                <a:solidFill>
                  <a:srgbClr val="2e8b57"/>
                </a:solidFill>
                <a:latin typeface="Calibri"/>
              </a:rPr>
              <a:t>▪  </a:t>
            </a:r>
            <a:r>
              <a:rPr b="0" lang="en-US" sz="1100" spc="-1" strike="noStrike">
                <a:solidFill>
                  <a:srgbClr val="e7ecf1"/>
                </a:solidFill>
                <a:latin typeface="Calibri"/>
              </a:rPr>
              <a:t>Eventual port to a Kubernetes scheduling framework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Rectangle 16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e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Rectangle 17"/>
          <p:cNvSpPr/>
          <p:nvPr/>
        </p:nvSpPr>
        <p:spPr>
          <a:xfrm>
            <a:off x="4267080" y="6803280"/>
            <a:ext cx="7924320" cy="5436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TextBox 18"/>
          <p:cNvSpPr/>
          <p:nvPr/>
        </p:nvSpPr>
        <p:spPr>
          <a:xfrm>
            <a:off x="10911600" y="6473880"/>
            <a:ext cx="1005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aa5b1"/>
                </a:solidFill>
                <a:latin typeface="Calibri"/>
              </a:rPr>
              <a:t>5 /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0" name="TextBox 19"/>
          <p:cNvSpPr/>
          <p:nvPr/>
        </p:nvSpPr>
        <p:spPr>
          <a:xfrm>
            <a:off x="502920" y="6473880"/>
            <a:ext cx="36572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9aa5b1"/>
                </a:solidFill>
                <a:latin typeface="Calibri"/>
              </a:rPr>
              <a:t>OKUBE  •  MIDSEM EVALUATION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2026-08-31T10:16:36Z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